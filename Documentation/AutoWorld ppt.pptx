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708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D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pic>
        <p:nvPicPr>
          <p:cNvPr id="3" name="Image 0" descr="/mnt/data/autoworld_presentation_crops2/cover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13232"/>
            <a:ext cx="5120640" cy="5074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63640" y="566928"/>
            <a:ext cx="5394960" cy="5349240"/>
          </a:xfrm>
          <a:prstGeom prst="roundRect">
            <a:avLst>
              <a:gd name="adj" fmla="val 2051"/>
            </a:avLst>
          </a:prstGeom>
          <a:solidFill>
            <a:srgbClr val="FFFFFF">
              <a:alpha val="0"/>
            </a:srgbClr>
          </a:solidFill>
          <a:ln w="12700">
            <a:solidFill>
              <a:srgbClr val="314A68"/>
            </a:solidFill>
            <a:prstDash val="solid"/>
          </a:ln>
        </p:spPr>
      </p:sp>
      <p:pic>
        <p:nvPicPr>
          <p:cNvPr id="5" name="Image 1" descr="/mnt/data/autoworld_doc_assets/logo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724" y="530352"/>
            <a:ext cx="530352" cy="5303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149047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900" b="1" dirty="0">
                <a:solidFill>
                  <a:srgbClr val="FFFFFF"/>
                </a:solidFill>
              </a:rPr>
              <a:t>AutoWorld</a:t>
            </a:r>
            <a:endParaRPr lang="en-US" sz="4900" dirty="0"/>
          </a:p>
        </p:txBody>
      </p:sp>
      <p:sp>
        <p:nvSpPr>
          <p:cNvPr id="7" name="Text 3"/>
          <p:cNvSpPr/>
          <p:nvPr/>
        </p:nvSpPr>
        <p:spPr>
          <a:xfrm>
            <a:off x="749808" y="21488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5E3F5"/>
                </a:solidFill>
              </a:rPr>
              <a:t>Car Dealership Information Platform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768096" y="2651760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7C9E2"/>
                </a:solidFill>
              </a:rPr>
              <a:t>Search cars, compare models, locate dealers and review support options from one clean interface.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31520" y="3794760"/>
            <a:ext cx="4983480" cy="1170432"/>
          </a:xfrm>
          <a:prstGeom prst="roundRect">
            <a:avLst>
              <a:gd name="adj" fmla="val 937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4A6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60120" y="39776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C9E2"/>
                </a:solidFill>
              </a:rPr>
              <a:t>Presented by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60120" y="4279392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Saqib Narejo     Student1716313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Sanjana Kumari   Student1711864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Nasreen Siddique Student1716338</a:t>
            </a:r>
            <a:endParaRPr lang="en-US" sz="1320" dirty="0"/>
          </a:p>
        </p:txBody>
      </p:sp>
      <p:sp>
        <p:nvSpPr>
          <p:cNvPr id="12" name="Shape 8"/>
          <p:cNvSpPr/>
          <p:nvPr/>
        </p:nvSpPr>
        <p:spPr>
          <a:xfrm>
            <a:off x="749808" y="5715000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1248" y="579729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PROJECT PRESENTATION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PRESENTATION PLAN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What we will cover today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A short and clear walkthrough of the project, not a documentation readout.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1422"/>
                </a:solidFill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23134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5"/>
                </a:solidFill>
              </a:rPr>
              <a:t>Problem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37560" y="23500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68B"/>
                </a:solidFill>
              </a:rPr>
              <a:t>Why this website is needed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77240" y="3044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1422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25880" y="302666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5"/>
                </a:solidFill>
              </a:rPr>
              <a:t>Solution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337560" y="306324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68B"/>
                </a:solidFill>
              </a:rPr>
              <a:t>What AutoWorld offers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7240" y="375818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1422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25880" y="373989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5"/>
                </a:solidFill>
              </a:rPr>
              <a:t>Website Tour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337560" y="37764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68B"/>
                </a:solidFill>
              </a:rPr>
              <a:t>Main pages and user journey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77240" y="44714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1422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44531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5"/>
                </a:solidFill>
              </a:rPr>
              <a:t>Technical Build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337560" y="448970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68B"/>
                </a:solidFill>
              </a:rPr>
              <a:t>How the front end works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77240" y="518464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1422"/>
                </a:solidFill>
              </a:rPr>
              <a:t>05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325880" y="51663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D35"/>
                </a:solidFill>
              </a:rPr>
              <a:t>Future Scope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337560" y="52029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6768B"/>
                </a:solidFill>
              </a:rPr>
              <a:t>What can be improved next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793992" y="1143000"/>
            <a:ext cx="4663440" cy="4434840"/>
          </a:xfrm>
          <a:prstGeom prst="roundRect">
            <a:avLst>
              <a:gd name="adj" fmla="val 2474"/>
            </a:avLst>
          </a:prstGeom>
          <a:solidFill>
            <a:srgbClr val="B4C5DB">
              <a:alpha val="40000"/>
            </a:srgbClr>
          </a:solidFill>
          <a:ln w="12700">
            <a:solidFill>
              <a:srgbClr val="B4C5DB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20840" y="1051560"/>
            <a:ext cx="46634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27" name="Image 1" descr="/mnt/data/autoworld_presentation_crops2/solution_ho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1161288"/>
            <a:ext cx="4443984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Car buyers need clearer information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Most buyers compare many details before deciding. AutoWorld brings those details together.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468880"/>
            <a:ext cx="27432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724912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8620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Scattered details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868680" y="3218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Prices, features, finance and warranty information are often checked separately.</a:t>
            </a:r>
            <a:endParaRPr lang="en-US" sz="1110" dirty="0"/>
          </a:p>
        </p:txBody>
      </p:sp>
      <p:sp>
        <p:nvSpPr>
          <p:cNvPr id="14" name="Shape 11"/>
          <p:cNvSpPr/>
          <p:nvPr/>
        </p:nvSpPr>
        <p:spPr>
          <a:xfrm>
            <a:off x="3611880" y="2468880"/>
            <a:ext cx="27432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0480" y="2724912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0" y="28620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Hard comparisons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3840480" y="3218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Users need side-by-side model differences to make quick choices.</a:t>
            </a:r>
            <a:endParaRPr lang="en-US" sz="1110" dirty="0"/>
          </a:p>
        </p:txBody>
      </p:sp>
      <p:sp>
        <p:nvSpPr>
          <p:cNvPr id="18" name="Shape 15"/>
          <p:cNvSpPr/>
          <p:nvPr/>
        </p:nvSpPr>
        <p:spPr>
          <a:xfrm>
            <a:off x="640080" y="3794760"/>
            <a:ext cx="27432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4050792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1879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Dealer uncertainty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868680" y="4544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A buyer wants city-based dealer details before visiting a showroom.</a:t>
            </a:r>
            <a:endParaRPr lang="en-US" sz="1110" dirty="0"/>
          </a:p>
        </p:txBody>
      </p:sp>
      <p:sp>
        <p:nvSpPr>
          <p:cNvPr id="22" name="Shape 19"/>
          <p:cNvSpPr/>
          <p:nvPr/>
        </p:nvSpPr>
        <p:spPr>
          <a:xfrm>
            <a:off x="3611880" y="3794760"/>
            <a:ext cx="27432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40480" y="4050792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40480" y="41879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Support questions</a:t>
            </a:r>
            <a:endParaRPr lang="en-US" sz="1440" dirty="0"/>
          </a:p>
        </p:txBody>
      </p:sp>
      <p:sp>
        <p:nvSpPr>
          <p:cNvPr id="25" name="Text 22"/>
          <p:cNvSpPr/>
          <p:nvPr/>
        </p:nvSpPr>
        <p:spPr>
          <a:xfrm>
            <a:off x="3840480" y="4544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Warranty, finance and booking queries need one contact point.</a:t>
            </a:r>
            <a:endParaRPr lang="en-US" sz="1110" dirty="0"/>
          </a:p>
        </p:txBody>
      </p:sp>
      <p:sp>
        <p:nvSpPr>
          <p:cNvPr id="26" name="Shape 23"/>
          <p:cNvSpPr/>
          <p:nvPr/>
        </p:nvSpPr>
        <p:spPr>
          <a:xfrm>
            <a:off x="6976872" y="1097280"/>
            <a:ext cx="4434840" cy="4754880"/>
          </a:xfrm>
          <a:prstGeom prst="roundRect">
            <a:avLst>
              <a:gd name="adj" fmla="val 2474"/>
            </a:avLst>
          </a:prstGeom>
          <a:solidFill>
            <a:srgbClr val="B4C5DB">
              <a:alpha val="40000"/>
            </a:srgbClr>
          </a:solidFill>
          <a:ln w="12700">
            <a:solidFill>
              <a:srgbClr val="B4C5DB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03720" y="1005840"/>
            <a:ext cx="4434840" cy="47548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28" name="Image 1" descr="/mnt/data/autoworld_presentation_crops2/problem_abou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115568"/>
            <a:ext cx="4215384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OUR SOLUTION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AutoWorld as a guided buying platform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The website gives users a simple path from exploration to inquiry.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25146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0B1D35"/>
                </a:solidFill>
              </a:rPr>
              <a:t>One platform. Five clear actions.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822960" y="3337560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246120"/>
            <a:ext cx="5029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Explore official car models</a:t>
            </a:r>
            <a:endParaRPr lang="en-US" sz="1420" dirty="0"/>
          </a:p>
        </p:txBody>
      </p:sp>
      <p:sp>
        <p:nvSpPr>
          <p:cNvPr id="13" name="Shape 10"/>
          <p:cNvSpPr/>
          <p:nvPr/>
        </p:nvSpPr>
        <p:spPr>
          <a:xfrm>
            <a:off x="822960" y="3794760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3703320"/>
            <a:ext cx="5029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Compare up to three cars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22960" y="4251960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4160520"/>
            <a:ext cx="5029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Find verified dealers by city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822960" y="4709160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4617720"/>
            <a:ext cx="5029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Review finance and warranty support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822960" y="5166360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5074920"/>
            <a:ext cx="5029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Send inquiry or book a visit</a:t>
            </a:r>
            <a:endParaRPr lang="en-US" sz="1420" dirty="0"/>
          </a:p>
        </p:txBody>
      </p:sp>
      <p:sp>
        <p:nvSpPr>
          <p:cNvPr id="21" name="Shape 18"/>
          <p:cNvSpPr/>
          <p:nvPr/>
        </p:nvSpPr>
        <p:spPr>
          <a:xfrm>
            <a:off x="6519672" y="1051560"/>
            <a:ext cx="4892040" cy="5029200"/>
          </a:xfrm>
          <a:prstGeom prst="roundRect">
            <a:avLst>
              <a:gd name="adj" fmla="val 2243"/>
            </a:avLst>
          </a:prstGeom>
          <a:solidFill>
            <a:srgbClr val="B4C5DB">
              <a:alpha val="40000"/>
            </a:srgbClr>
          </a:solidFill>
          <a:ln w="12700">
            <a:solidFill>
              <a:srgbClr val="B4C5DB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46520" y="960120"/>
            <a:ext cx="4892040" cy="502920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23" name="Image 1" descr="/mnt/data/autoworld_presentation_crops2/solution_ho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069848"/>
            <a:ext cx="4672584" cy="4809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USER JOURNEY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From interest to inquiry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The project flow follows how a real buyer checks a car before contacting a dealer.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286000" y="3337560"/>
            <a:ext cx="384048" cy="292608"/>
          </a:xfrm>
          <a:prstGeom prst="chevron">
            <a:avLst/>
          </a:prstGeom>
          <a:solidFill>
            <a:srgbClr val="CCD8E7"/>
          </a:solidFill>
          <a:ln w="12700">
            <a:solidFill>
              <a:srgbClr val="CCD8E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8720" y="2514600"/>
            <a:ext cx="658368" cy="658368"/>
          </a:xfrm>
          <a:prstGeom prst="ellipse">
            <a:avLst/>
          </a:prstGeom>
          <a:solidFill>
            <a:srgbClr val="071D39"/>
          </a:solidFill>
          <a:ln w="12700">
            <a:solidFill>
              <a:srgbClr val="071D3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27432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349300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D35"/>
                </a:solidFill>
              </a:rPr>
              <a:t>Browse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3822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6768B"/>
                </a:solidFill>
              </a:rPr>
              <a:t>Home + catalog</a:t>
            </a:r>
            <a:endParaRPr lang="en-US" sz="1070" dirty="0"/>
          </a:p>
        </p:txBody>
      </p:sp>
      <p:sp>
        <p:nvSpPr>
          <p:cNvPr id="15" name="Shape 12"/>
          <p:cNvSpPr/>
          <p:nvPr/>
        </p:nvSpPr>
        <p:spPr>
          <a:xfrm>
            <a:off x="4572000" y="3337560"/>
            <a:ext cx="384048" cy="292608"/>
          </a:xfrm>
          <a:prstGeom prst="chevron">
            <a:avLst/>
          </a:prstGeom>
          <a:solidFill>
            <a:srgbClr val="CCD8E7"/>
          </a:solidFill>
          <a:ln w="12700">
            <a:solidFill>
              <a:srgbClr val="CCD8E7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514600"/>
            <a:ext cx="658368" cy="658368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0" y="27432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063240" y="349300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D35"/>
                </a:solidFill>
              </a:rPr>
              <a:t>Filter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017520" y="3822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6768B"/>
                </a:solidFill>
              </a:rPr>
              <a:t>Brand, budget, city</a:t>
            </a:r>
            <a:endParaRPr lang="en-US" sz="1070" dirty="0"/>
          </a:p>
        </p:txBody>
      </p:sp>
      <p:sp>
        <p:nvSpPr>
          <p:cNvPr id="20" name="Shape 17"/>
          <p:cNvSpPr/>
          <p:nvPr/>
        </p:nvSpPr>
        <p:spPr>
          <a:xfrm>
            <a:off x="6858000" y="3337560"/>
            <a:ext cx="384048" cy="292608"/>
          </a:xfrm>
          <a:prstGeom prst="chevron">
            <a:avLst/>
          </a:prstGeom>
          <a:solidFill>
            <a:srgbClr val="CCD8E7"/>
          </a:solidFill>
          <a:ln w="12700">
            <a:solidFill>
              <a:srgbClr val="CCD8E7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60720" y="2514600"/>
            <a:ext cx="658368" cy="658368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27432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49240" y="349300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D35"/>
                </a:solidFill>
              </a:rPr>
              <a:t>Compare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303520" y="3822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6768B"/>
                </a:solidFill>
              </a:rPr>
              <a:t>Model vs model</a:t>
            </a:r>
            <a:endParaRPr lang="en-US" sz="1070" dirty="0"/>
          </a:p>
        </p:txBody>
      </p:sp>
      <p:sp>
        <p:nvSpPr>
          <p:cNvPr id="25" name="Shape 22"/>
          <p:cNvSpPr/>
          <p:nvPr/>
        </p:nvSpPr>
        <p:spPr>
          <a:xfrm>
            <a:off x="9144000" y="3337560"/>
            <a:ext cx="384048" cy="292608"/>
          </a:xfrm>
          <a:prstGeom prst="chevron">
            <a:avLst/>
          </a:prstGeom>
          <a:solidFill>
            <a:srgbClr val="CCD8E7"/>
          </a:solidFill>
          <a:ln w="12700">
            <a:solidFill>
              <a:srgbClr val="CCD8E7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46720" y="2514600"/>
            <a:ext cx="658368" cy="658368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0" y="27432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635240" y="349300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D35"/>
                </a:solidFill>
              </a:rPr>
              <a:t>Support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589520" y="3822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6768B"/>
                </a:solidFill>
              </a:rPr>
              <a:t>Finance + warranty</a:t>
            </a:r>
            <a:endParaRPr lang="en-US" sz="1070" dirty="0"/>
          </a:p>
        </p:txBody>
      </p:sp>
      <p:sp>
        <p:nvSpPr>
          <p:cNvPr id="30" name="Shape 27"/>
          <p:cNvSpPr/>
          <p:nvPr/>
        </p:nvSpPr>
        <p:spPr>
          <a:xfrm>
            <a:off x="10332720" y="2514600"/>
            <a:ext cx="658368" cy="658368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332720" y="27432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921240" y="349300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D35"/>
                </a:solidFill>
              </a:rPr>
              <a:t>Contact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9875520" y="3822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6768B"/>
                </a:solidFill>
              </a:rPr>
              <a:t>Query or booking</a:t>
            </a:r>
            <a:endParaRPr lang="en-US" sz="1070" dirty="0"/>
          </a:p>
        </p:txBody>
      </p:sp>
      <p:sp>
        <p:nvSpPr>
          <p:cNvPr id="34" name="Shape 31"/>
          <p:cNvSpPr/>
          <p:nvPr/>
        </p:nvSpPr>
        <p:spPr>
          <a:xfrm>
            <a:off x="1828800" y="4892040"/>
            <a:ext cx="8503920" cy="621792"/>
          </a:xfrm>
          <a:prstGeom prst="roundRect">
            <a:avLst>
              <a:gd name="adj" fmla="val 22059"/>
            </a:avLst>
          </a:prstGeom>
          <a:solidFill>
            <a:srgbClr val="EEF3F8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57400" y="5120640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071D39"/>
                </a:solidFill>
              </a:rPr>
              <a:t>Goal: help users reach a buying decision faster and with less confusion.</a:t>
            </a:r>
            <a:endParaRPr lang="en-US" sz="13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06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HOME PAGE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First impression and quick entry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The homepage introduces the brand and guides users toward search, comparison and booking.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660904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298448" y="256946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D35"/>
                </a:solidFill>
              </a:rPr>
              <a:t>Hero section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98448" y="2889504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68B"/>
                </a:solidFill>
              </a:rPr>
              <a:t>Clear headline with primary action buttons.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731520" y="3456432"/>
            <a:ext cx="420624" cy="420624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3575304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298448" y="348386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D35"/>
                </a:solidFill>
              </a:rPr>
              <a:t>Quick filters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98448" y="3803904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68B"/>
                </a:solidFill>
              </a:rPr>
              <a:t>Brand, model, price and city are placed early.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31520" y="4370832"/>
            <a:ext cx="420624" cy="420624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489704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98448" y="439826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D35"/>
                </a:solidFill>
              </a:rPr>
              <a:t>Featured cars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98448" y="4718304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68B"/>
                </a:solidFill>
              </a:rPr>
              <a:t>Users can start exploring without opening another page.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6519672" y="1051560"/>
            <a:ext cx="4892040" cy="5029200"/>
          </a:xfrm>
          <a:prstGeom prst="roundRect">
            <a:avLst>
              <a:gd name="adj" fmla="val 2243"/>
            </a:avLst>
          </a:prstGeom>
          <a:solidFill>
            <a:srgbClr val="B4C5DB">
              <a:alpha val="40000"/>
            </a:srgbClr>
          </a:solidFill>
          <a:ln w="12700">
            <a:solidFill>
              <a:srgbClr val="B4C5DB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46520" y="960120"/>
            <a:ext cx="4892040" cy="502920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24" name="Image 1" descr="/mnt/data/autoworld_presentation_crops2/home_p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069848"/>
            <a:ext cx="4672584" cy="4809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07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SEE YOUR CAR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Car catalog with clean filters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This page lets users browse official brand models and shortlist cars quickly.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1520" y="2423160"/>
            <a:ext cx="5440680" cy="3200400"/>
          </a:xfrm>
          <a:prstGeom prst="roundRect">
            <a:avLst>
              <a:gd name="adj" fmla="val 3429"/>
            </a:avLst>
          </a:prstGeom>
          <a:solidFill>
            <a:srgbClr val="B4C5DB">
              <a:alpha val="40000"/>
            </a:srgbClr>
          </a:solidFill>
          <a:ln w="12700">
            <a:solidFill>
              <a:srgbClr val="B4C5DB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331720"/>
            <a:ext cx="5440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12" name="Image 1" descr="/mnt/data/autoworld_presentation_crops2/see_catalo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441448"/>
            <a:ext cx="5221224" cy="29809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37960" y="233172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757416" y="2551176"/>
            <a:ext cx="329184" cy="329184"/>
          </a:xfrm>
          <a:prstGeom prst="ellipse">
            <a:avLst/>
          </a:prstGeom>
          <a:solidFill>
            <a:srgbClr val="FDEDEF"/>
          </a:solidFill>
          <a:ln w="12700">
            <a:solidFill>
              <a:srgbClr val="FDEDEF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67144" y="2660904"/>
            <a:ext cx="109728" cy="109728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57416" y="30449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D35"/>
                </a:solidFill>
              </a:rPr>
              <a:t>Filter search</a:t>
            </a:r>
            <a:endParaRPr lang="en-US" sz="1320" dirty="0"/>
          </a:p>
        </p:txBody>
      </p:sp>
      <p:sp>
        <p:nvSpPr>
          <p:cNvPr id="17" name="Text 13"/>
          <p:cNvSpPr/>
          <p:nvPr/>
        </p:nvSpPr>
        <p:spPr>
          <a:xfrm>
            <a:off x="6757416" y="3337560"/>
            <a:ext cx="1892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6768B"/>
                </a:solidFill>
              </a:rPr>
              <a:t>Brand, model, price range and city filters.</a:t>
            </a:r>
            <a:endParaRPr lang="en-US" sz="1060" dirty="0"/>
          </a:p>
        </p:txBody>
      </p:sp>
      <p:sp>
        <p:nvSpPr>
          <p:cNvPr id="18" name="Shape 14"/>
          <p:cNvSpPr/>
          <p:nvPr/>
        </p:nvSpPr>
        <p:spPr>
          <a:xfrm>
            <a:off x="9144000" y="233172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363456" y="2551176"/>
            <a:ext cx="329184" cy="329184"/>
          </a:xfrm>
          <a:prstGeom prst="ellipse">
            <a:avLst/>
          </a:prstGeom>
          <a:solidFill>
            <a:srgbClr val="FDEDEF"/>
          </a:solidFill>
          <a:ln w="12700">
            <a:solidFill>
              <a:srgbClr val="FDEDE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473184" y="2660904"/>
            <a:ext cx="109728" cy="109728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363456" y="304495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D35"/>
                </a:solidFill>
              </a:rPr>
              <a:t>Car cards</a:t>
            </a:r>
            <a:endParaRPr lang="en-US" sz="1320" dirty="0"/>
          </a:p>
        </p:txBody>
      </p:sp>
      <p:sp>
        <p:nvSpPr>
          <p:cNvPr id="22" name="Text 18"/>
          <p:cNvSpPr/>
          <p:nvPr/>
        </p:nvSpPr>
        <p:spPr>
          <a:xfrm>
            <a:off x="9363456" y="3337560"/>
            <a:ext cx="1892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6768B"/>
                </a:solidFill>
              </a:rPr>
              <a:t>Image, price, engine, mileage and city in one card.</a:t>
            </a:r>
            <a:endParaRPr lang="en-US" sz="1060" dirty="0"/>
          </a:p>
        </p:txBody>
      </p:sp>
      <p:sp>
        <p:nvSpPr>
          <p:cNvPr id="23" name="Shape 19"/>
          <p:cNvSpPr/>
          <p:nvPr/>
        </p:nvSpPr>
        <p:spPr>
          <a:xfrm>
            <a:off x="6537960" y="406908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757416" y="4288536"/>
            <a:ext cx="329184" cy="329184"/>
          </a:xfrm>
          <a:prstGeom prst="ellipse">
            <a:avLst/>
          </a:prstGeom>
          <a:solidFill>
            <a:srgbClr val="FDEDEF"/>
          </a:solidFill>
          <a:ln w="12700">
            <a:solidFill>
              <a:srgbClr val="FDEDEF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867144" y="4398264"/>
            <a:ext cx="109728" cy="109728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757416" y="478231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D35"/>
                </a:solidFill>
              </a:rPr>
              <a:t>Large visuals</a:t>
            </a:r>
            <a:endParaRPr lang="en-US" sz="1320" dirty="0"/>
          </a:p>
        </p:txBody>
      </p:sp>
      <p:sp>
        <p:nvSpPr>
          <p:cNvPr id="27" name="Text 23"/>
          <p:cNvSpPr/>
          <p:nvPr/>
        </p:nvSpPr>
        <p:spPr>
          <a:xfrm>
            <a:off x="6757416" y="5074920"/>
            <a:ext cx="1892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6768B"/>
                </a:solidFill>
              </a:rPr>
              <a:t>Car images make browsing easier.</a:t>
            </a:r>
            <a:endParaRPr lang="en-US" sz="1060" dirty="0"/>
          </a:p>
        </p:txBody>
      </p:sp>
      <p:sp>
        <p:nvSpPr>
          <p:cNvPr id="28" name="Shape 24"/>
          <p:cNvSpPr/>
          <p:nvPr/>
        </p:nvSpPr>
        <p:spPr>
          <a:xfrm>
            <a:off x="9144000" y="4069080"/>
            <a:ext cx="23317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363456" y="4288536"/>
            <a:ext cx="329184" cy="329184"/>
          </a:xfrm>
          <a:prstGeom prst="ellipse">
            <a:avLst/>
          </a:prstGeom>
          <a:solidFill>
            <a:srgbClr val="FDEDEF"/>
          </a:solidFill>
          <a:ln w="12700">
            <a:solidFill>
              <a:srgbClr val="FDEDE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9473184" y="4398264"/>
            <a:ext cx="109728" cy="109728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363456" y="4782312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0B1D35"/>
                </a:solidFill>
              </a:rPr>
              <a:t>Details action</a:t>
            </a:r>
            <a:endParaRPr lang="en-US" sz="1320" dirty="0"/>
          </a:p>
        </p:txBody>
      </p:sp>
      <p:sp>
        <p:nvSpPr>
          <p:cNvPr id="32" name="Text 28"/>
          <p:cNvSpPr/>
          <p:nvPr/>
        </p:nvSpPr>
        <p:spPr>
          <a:xfrm>
            <a:off x="9363456" y="5074920"/>
            <a:ext cx="18928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6768B"/>
                </a:solidFill>
              </a:rPr>
              <a:t>Every card has a direct View Details button.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08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COMPARE CARS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Side-by-side decision support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The comparison page reduces the effort of checking separate model details.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19672" y="1051560"/>
            <a:ext cx="4892040" cy="5029200"/>
          </a:xfrm>
          <a:prstGeom prst="roundRect">
            <a:avLst>
              <a:gd name="adj" fmla="val 2243"/>
            </a:avLst>
          </a:prstGeom>
          <a:solidFill>
            <a:srgbClr val="B4C5DB">
              <a:alpha val="40000"/>
            </a:srgbClr>
          </a:solidFill>
          <a:ln w="12700">
            <a:solidFill>
              <a:srgbClr val="B4C5DB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960120"/>
            <a:ext cx="4892040" cy="502920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12" name="Image 1" descr="/mnt/data/autoworld_presentation_crops2/compare_p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069848"/>
            <a:ext cx="4672584" cy="4809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2651760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05840" y="2560320"/>
            <a:ext cx="5074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Compare up to three selected cars</a:t>
            </a:r>
            <a:endParaRPr lang="en-US" sz="1420" dirty="0"/>
          </a:p>
        </p:txBody>
      </p:sp>
      <p:sp>
        <p:nvSpPr>
          <p:cNvPr id="15" name="Shape 11"/>
          <p:cNvSpPr/>
          <p:nvPr/>
        </p:nvSpPr>
        <p:spPr>
          <a:xfrm>
            <a:off x="822960" y="3182112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05840" y="3090672"/>
            <a:ext cx="5074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View price, engine, mileage, body type and dealer city</a:t>
            </a:r>
            <a:endParaRPr lang="en-US" sz="1420" dirty="0"/>
          </a:p>
        </p:txBody>
      </p:sp>
      <p:sp>
        <p:nvSpPr>
          <p:cNvPr id="17" name="Shape 13"/>
          <p:cNvSpPr/>
          <p:nvPr/>
        </p:nvSpPr>
        <p:spPr>
          <a:xfrm>
            <a:off x="822960" y="3712464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05840" y="3621024"/>
            <a:ext cx="5074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Recommended car cards suggest next options</a:t>
            </a:r>
            <a:endParaRPr lang="en-US" sz="1420" dirty="0"/>
          </a:p>
        </p:txBody>
      </p:sp>
      <p:sp>
        <p:nvSpPr>
          <p:cNvPr id="19" name="Shape 15"/>
          <p:cNvSpPr/>
          <p:nvPr/>
        </p:nvSpPr>
        <p:spPr>
          <a:xfrm>
            <a:off x="822960" y="4572000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071D39"/>
          </a:solidFill>
          <a:ln w="12700">
            <a:solidFill>
              <a:srgbClr val="071D3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05840" y="4791456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FFFF"/>
                </a:solidFill>
              </a:rPr>
              <a:t>Main benefit: faster and more confident buying decisions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09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DEALER LOCATOR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Find verified dealers near you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The dealer page connects buyers with showroom details by brand and city.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1520" y="2423160"/>
            <a:ext cx="5440680" cy="3200400"/>
          </a:xfrm>
          <a:prstGeom prst="roundRect">
            <a:avLst>
              <a:gd name="adj" fmla="val 3429"/>
            </a:avLst>
          </a:prstGeom>
          <a:solidFill>
            <a:srgbClr val="B4C5DB">
              <a:alpha val="40000"/>
            </a:srgbClr>
          </a:solidFill>
          <a:ln w="12700">
            <a:solidFill>
              <a:srgbClr val="B4C5DB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331720"/>
            <a:ext cx="5440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12" name="Image 1" descr="/mnt/data/autoworld_presentation_crops2/dealers_p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2441448"/>
            <a:ext cx="5221224" cy="29809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37960" y="233172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766560" y="2587752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66560" y="272491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Search form</a:t>
            </a:r>
            <a:endParaRPr lang="en-US" sz="1440" dirty="0"/>
          </a:p>
        </p:txBody>
      </p:sp>
      <p:sp>
        <p:nvSpPr>
          <p:cNvPr id="16" name="Text 12"/>
          <p:cNvSpPr/>
          <p:nvPr/>
        </p:nvSpPr>
        <p:spPr>
          <a:xfrm>
            <a:off x="6766560" y="3081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Select brand and city to get relevant dealer results.</a:t>
            </a:r>
            <a:endParaRPr lang="en-US" sz="1110" dirty="0"/>
          </a:p>
        </p:txBody>
      </p:sp>
      <p:sp>
        <p:nvSpPr>
          <p:cNvPr id="17" name="Shape 13"/>
          <p:cNvSpPr/>
          <p:nvPr/>
        </p:nvSpPr>
        <p:spPr>
          <a:xfrm>
            <a:off x="9144000" y="233172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372600" y="2587752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372600" y="272491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Map preview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9372600" y="3081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Location section supports physical showroom visits.</a:t>
            </a:r>
            <a:endParaRPr lang="en-US" sz="1110" dirty="0"/>
          </a:p>
        </p:txBody>
      </p:sp>
      <p:sp>
        <p:nvSpPr>
          <p:cNvPr id="21" name="Shape 17"/>
          <p:cNvSpPr/>
          <p:nvPr/>
        </p:nvSpPr>
        <p:spPr>
          <a:xfrm>
            <a:off x="6537960" y="379476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66560" y="4050792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66560" y="4187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Dealer cards</a:t>
            </a:r>
            <a:endParaRPr lang="en-US" sz="1440" dirty="0"/>
          </a:p>
        </p:txBody>
      </p:sp>
      <p:sp>
        <p:nvSpPr>
          <p:cNvPr id="24" name="Text 20"/>
          <p:cNvSpPr/>
          <p:nvPr/>
        </p:nvSpPr>
        <p:spPr>
          <a:xfrm>
            <a:off x="6766560" y="4544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Each card shows city, address, contact and booking action.</a:t>
            </a:r>
            <a:endParaRPr lang="en-US" sz="1110" dirty="0"/>
          </a:p>
        </p:txBody>
      </p:sp>
      <p:sp>
        <p:nvSpPr>
          <p:cNvPr id="25" name="Shape 21"/>
          <p:cNvSpPr/>
          <p:nvPr/>
        </p:nvSpPr>
        <p:spPr>
          <a:xfrm>
            <a:off x="9144000" y="3794760"/>
            <a:ext cx="23317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9372600" y="4050792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372600" y="4187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Brand coverage</a:t>
            </a:r>
            <a:endParaRPr lang="en-US" sz="1440" dirty="0"/>
          </a:p>
        </p:txBody>
      </p:sp>
      <p:sp>
        <p:nvSpPr>
          <p:cNvPr id="28" name="Text 24"/>
          <p:cNvSpPr/>
          <p:nvPr/>
        </p:nvSpPr>
        <p:spPr>
          <a:xfrm>
            <a:off x="9372600" y="45445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Toyota, Honda, Suzuki, Hyundai, Kia, BMW and Ford.</a:t>
            </a:r>
            <a:endParaRPr lang="en-US" sz="11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10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FINANCE SUPPORT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Estimate loan guidance in a simple way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The finance page helps users understand basic payment support before contacting the team.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" y="2560320"/>
            <a:ext cx="420624" cy="420624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679192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344168" y="2587752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D35"/>
                </a:solidFill>
              </a:rPr>
              <a:t>Enter price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44168" y="2907792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68B"/>
                </a:solidFill>
              </a:rPr>
              <a:t>The user enters car price in PKR.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777240" y="3474720"/>
            <a:ext cx="420624" cy="420624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593592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344168" y="3502152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D35"/>
                </a:solidFill>
              </a:rPr>
              <a:t>Choose duration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44168" y="3822192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68B"/>
                </a:solidFill>
              </a:rPr>
              <a:t>The page supports duration-based guidance.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77240" y="4389120"/>
            <a:ext cx="420624" cy="420624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507992"/>
            <a:ext cx="42062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344168" y="4416552"/>
            <a:ext cx="4507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D35"/>
                </a:solidFill>
              </a:rPr>
              <a:t>Review banks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44168" y="4736592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6768B"/>
                </a:solidFill>
              </a:rPr>
              <a:t>Bank scheme cards show available options.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6519672" y="1051560"/>
            <a:ext cx="4892040" cy="5029200"/>
          </a:xfrm>
          <a:prstGeom prst="roundRect">
            <a:avLst>
              <a:gd name="adj" fmla="val 2243"/>
            </a:avLst>
          </a:prstGeom>
          <a:solidFill>
            <a:srgbClr val="B4C5DB">
              <a:alpha val="40000"/>
            </a:srgbClr>
          </a:solidFill>
          <a:ln w="12700">
            <a:solidFill>
              <a:srgbClr val="B4C5DB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46520" y="960120"/>
            <a:ext cx="4892040" cy="502920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24" name="Image 1" descr="/mnt/data/autoworld_presentation_crops2/finance_p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069848"/>
            <a:ext cx="4672584" cy="4809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11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SUPPORT FLOW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Warranty and contact pages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After browsing and comparing, users can ask questions or review support guidance.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58952" y="2423160"/>
            <a:ext cx="5120640" cy="3154680"/>
          </a:xfrm>
          <a:prstGeom prst="roundRect">
            <a:avLst>
              <a:gd name="adj" fmla="val 3478"/>
            </a:avLst>
          </a:prstGeom>
          <a:solidFill>
            <a:srgbClr val="B4C5DB">
              <a:alpha val="40000"/>
            </a:srgbClr>
          </a:solidFill>
          <a:ln w="12700">
            <a:solidFill>
              <a:srgbClr val="B4C5DB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2331720"/>
            <a:ext cx="51206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12" name="Image 1" descr="/mnt/data/autoworld_presentation_crops2/warranty_p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441448"/>
            <a:ext cx="4901184" cy="293522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28232" y="2423160"/>
            <a:ext cx="5120640" cy="3154680"/>
          </a:xfrm>
          <a:prstGeom prst="roundRect">
            <a:avLst>
              <a:gd name="adj" fmla="val 3478"/>
            </a:avLst>
          </a:prstGeom>
          <a:solidFill>
            <a:srgbClr val="B4C5DB">
              <a:alpha val="40000"/>
            </a:srgbClr>
          </a:solidFill>
          <a:ln w="12700">
            <a:solidFill>
              <a:srgbClr val="B4C5DB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55080" y="2331720"/>
            <a:ext cx="512064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15" name="Image 2" descr="/mnt/data/autoworld_presentation_crops2/contact_p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2441448"/>
            <a:ext cx="4901184" cy="293522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05840" y="5687568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97280" y="57698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WARRANTY GUIDANCE</a:t>
            </a:r>
            <a:endParaRPr lang="en-US" sz="880" dirty="0"/>
          </a:p>
        </p:txBody>
      </p:sp>
      <p:sp>
        <p:nvSpPr>
          <p:cNvPr id="18" name="Shape 13"/>
          <p:cNvSpPr/>
          <p:nvPr/>
        </p:nvSpPr>
        <p:spPr>
          <a:xfrm>
            <a:off x="6675120" y="5687568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071D39"/>
          </a:solidFill>
          <a:ln w="12700">
            <a:solidFill>
              <a:srgbClr val="071D39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766560" y="576986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QUERY SUBMISSION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12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TECHNICAL BUILD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Simple front-end architecture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The project is a static website with reusable styling and JavaScript-powered interactions.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2423160"/>
            <a:ext cx="3063240" cy="1078992"/>
          </a:xfrm>
          <a:prstGeom prst="roundRect">
            <a:avLst>
              <a:gd name="adj" fmla="val 11017"/>
            </a:avLst>
          </a:prstGeom>
          <a:solidFill>
            <a:srgbClr val="071D39"/>
          </a:solidFill>
          <a:ln w="12700">
            <a:solidFill>
              <a:srgbClr val="071D39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74320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HTML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868680" y="30815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C9E2"/>
                </a:solidFill>
              </a:rPr>
              <a:t>Page structure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17720" y="2423160"/>
            <a:ext cx="3063240" cy="1078992"/>
          </a:xfrm>
          <a:prstGeom prst="roundRect">
            <a:avLst>
              <a:gd name="adj" fmla="val 11017"/>
            </a:avLst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274320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CSS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4617720" y="30815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E0E3"/>
                </a:solidFill>
              </a:rPr>
              <a:t>Design and layout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366760" y="2423160"/>
            <a:ext cx="3063240" cy="1078992"/>
          </a:xfrm>
          <a:prstGeom prst="roundRect">
            <a:avLst>
              <a:gd name="adj" fmla="val 11017"/>
            </a:avLst>
          </a:prstGeom>
          <a:solidFill>
            <a:srgbClr val="0B7A5F"/>
          </a:solidFill>
          <a:ln w="12700">
            <a:solidFill>
              <a:srgbClr val="0B7A5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6760" y="274320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JavaScript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8366760" y="308152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2FFF2"/>
                </a:solidFill>
              </a:rPr>
              <a:t>Filters and actions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60120" y="4343400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43000" y="4251960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Multiple HTML pages connected with consistent navigation</a:t>
            </a:r>
            <a:endParaRPr lang="en-US" sz="1420" dirty="0"/>
          </a:p>
        </p:txBody>
      </p:sp>
      <p:sp>
        <p:nvSpPr>
          <p:cNvPr id="21" name="Shape 18"/>
          <p:cNvSpPr/>
          <p:nvPr/>
        </p:nvSpPr>
        <p:spPr>
          <a:xfrm>
            <a:off x="960120" y="4800600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43000" y="4709160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Shared visual system for colors, spacing, buttons and cards</a:t>
            </a:r>
            <a:endParaRPr lang="en-US" sz="1420" dirty="0"/>
          </a:p>
        </p:txBody>
      </p:sp>
      <p:sp>
        <p:nvSpPr>
          <p:cNvPr id="23" name="Shape 20"/>
          <p:cNvSpPr/>
          <p:nvPr/>
        </p:nvSpPr>
        <p:spPr>
          <a:xfrm>
            <a:off x="960120" y="5257800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5166360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JavaScript supports search, selection, comparison and forms</a:t>
            </a:r>
            <a:endParaRPr lang="en-US" sz="1420" dirty="0"/>
          </a:p>
        </p:txBody>
      </p:sp>
      <p:sp>
        <p:nvSpPr>
          <p:cNvPr id="25" name="Shape 22"/>
          <p:cNvSpPr/>
          <p:nvPr/>
        </p:nvSpPr>
        <p:spPr>
          <a:xfrm>
            <a:off x="7525512" y="425196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B4C5DB">
              <a:alpha val="40000"/>
            </a:srgbClr>
          </a:solidFill>
          <a:ln w="12700">
            <a:solidFill>
              <a:srgbClr val="B4C5DB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52360" y="4160520"/>
            <a:ext cx="34290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27" name="Image 1" descr="/mnt/data/autoworld_presentation_crops2/home_bann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4270248"/>
            <a:ext cx="3209544" cy="923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13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VISUAL DESIGN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Professional automotive look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The interface uses a premium dealership style with strong readability.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2514600"/>
            <a:ext cx="1051560" cy="621792"/>
          </a:xfrm>
          <a:prstGeom prst="rect">
            <a:avLst/>
          </a:prstGeom>
          <a:solidFill>
            <a:srgbClr val="071D39"/>
          </a:solidFill>
          <a:ln w="12700">
            <a:solidFill>
              <a:srgbClr val="071D39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33101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68B"/>
                </a:solidFill>
              </a:rPr>
              <a:t>Navy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76272" y="2514600"/>
            <a:ext cx="1051560" cy="621792"/>
          </a:xfrm>
          <a:prstGeom prst="rect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76272" y="33101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68B"/>
                </a:solidFill>
              </a:rPr>
              <a:t>Red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483864" y="2514600"/>
            <a:ext cx="1051560" cy="621792"/>
          </a:xfrm>
          <a:prstGeom prst="rect">
            <a:avLst/>
          </a:prstGeom>
          <a:solidFill>
            <a:srgbClr val="F7FAFD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83864" y="331012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68B"/>
                </a:solidFill>
              </a:rPr>
              <a:t>Soft White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68680" y="4069080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3977640"/>
            <a:ext cx="4937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Large hero images for automotive feel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868680" y="4526280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4434840"/>
            <a:ext cx="4937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Rounded cards for cars, dealers and support blocks</a:t>
            </a:r>
            <a:endParaRPr lang="en-US" sz="1420" dirty="0"/>
          </a:p>
        </p:txBody>
      </p:sp>
      <p:sp>
        <p:nvSpPr>
          <p:cNvPr id="20" name="Shape 17"/>
          <p:cNvSpPr/>
          <p:nvPr/>
        </p:nvSpPr>
        <p:spPr>
          <a:xfrm>
            <a:off x="868680" y="4983480"/>
            <a:ext cx="82296" cy="82296"/>
          </a:xfrm>
          <a:prstGeom prst="ellipse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" y="4892040"/>
            <a:ext cx="4937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0B1D35"/>
                </a:solidFill>
              </a:rPr>
              <a:t>Consistent footer, navigation and call-to-action buttons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6519672" y="1051560"/>
            <a:ext cx="4892040" cy="5029200"/>
          </a:xfrm>
          <a:prstGeom prst="roundRect">
            <a:avLst>
              <a:gd name="adj" fmla="val 2243"/>
            </a:avLst>
          </a:prstGeom>
          <a:solidFill>
            <a:srgbClr val="B4C5DB">
              <a:alpha val="40000"/>
            </a:srgbClr>
          </a:solidFill>
          <a:ln w="12700">
            <a:solidFill>
              <a:srgbClr val="B4C5DB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46520" y="960120"/>
            <a:ext cx="4892040" cy="502920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24" name="Image 1" descr="/mnt/data/autoworld_presentation_crops2/identity_ho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1069848"/>
            <a:ext cx="4672584" cy="4809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utoworld_doc_assets/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1924" y="274320"/>
            <a:ext cx="438912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6428232"/>
            <a:ext cx="1097280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EA0B8"/>
                </a:solidFill>
              </a:rPr>
              <a:t>AutoWorld Project Presentation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1384280" y="653796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EA0B8"/>
                </a:solidFill>
              </a:rPr>
              <a:t>14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94360" y="850392"/>
            <a:ext cx="310896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749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071D39"/>
                </a:solidFill>
              </a:rPr>
              <a:t>FUTURE SCOPE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33272"/>
            <a:ext cx="5806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D35"/>
                </a:solidFill>
              </a:rPr>
              <a:t>How AutoWorld can improve further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03504" y="179222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68B"/>
                </a:solidFill>
              </a:rPr>
              <a:t>The current version is a strong front-end prototype. These features can make it production-ready.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1520" y="2331720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2587752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272491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Database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960120" y="30815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Dynamic cars, dealers, bookings and inquiries</a:t>
            </a:r>
            <a:endParaRPr lang="en-US" sz="1110" dirty="0"/>
          </a:p>
        </p:txBody>
      </p:sp>
      <p:sp>
        <p:nvSpPr>
          <p:cNvPr id="14" name="Shape 11"/>
          <p:cNvSpPr/>
          <p:nvPr/>
        </p:nvSpPr>
        <p:spPr>
          <a:xfrm>
            <a:off x="4480560" y="2331720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9160" y="2587752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272491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Admin panel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4709160" y="30815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Staff can manage listings and prices</a:t>
            </a:r>
            <a:endParaRPr lang="en-US" sz="1110" dirty="0"/>
          </a:p>
        </p:txBody>
      </p:sp>
      <p:sp>
        <p:nvSpPr>
          <p:cNvPr id="18" name="Shape 15"/>
          <p:cNvSpPr/>
          <p:nvPr/>
        </p:nvSpPr>
        <p:spPr>
          <a:xfrm>
            <a:off x="8229600" y="2331720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58200" y="2587752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58200" y="272491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User accounts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8458200" y="30815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Save favorites and comparison history</a:t>
            </a:r>
            <a:endParaRPr lang="en-US" sz="1110" dirty="0"/>
          </a:p>
        </p:txBody>
      </p:sp>
      <p:sp>
        <p:nvSpPr>
          <p:cNvPr id="22" name="Shape 19"/>
          <p:cNvSpPr/>
          <p:nvPr/>
        </p:nvSpPr>
        <p:spPr>
          <a:xfrm>
            <a:off x="731520" y="3904488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0120" y="4160520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429768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Live APIs</a:t>
            </a:r>
            <a:endParaRPr lang="en-US" sz="1440" dirty="0"/>
          </a:p>
        </p:txBody>
      </p:sp>
      <p:sp>
        <p:nvSpPr>
          <p:cNvPr id="25" name="Text 22"/>
          <p:cNvSpPr/>
          <p:nvPr/>
        </p:nvSpPr>
        <p:spPr>
          <a:xfrm>
            <a:off x="960120" y="46542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Bank finance, map and availability integration</a:t>
            </a:r>
            <a:endParaRPr lang="en-US" sz="1110" dirty="0"/>
          </a:p>
        </p:txBody>
      </p:sp>
      <p:sp>
        <p:nvSpPr>
          <p:cNvPr id="26" name="Shape 23"/>
          <p:cNvSpPr/>
          <p:nvPr/>
        </p:nvSpPr>
        <p:spPr>
          <a:xfrm>
            <a:off x="4480560" y="3904488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09160" y="4160520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429768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Email alerts</a:t>
            </a:r>
            <a:endParaRPr lang="en-US" sz="1440" dirty="0"/>
          </a:p>
        </p:txBody>
      </p:sp>
      <p:sp>
        <p:nvSpPr>
          <p:cNvPr id="29" name="Text 26"/>
          <p:cNvSpPr/>
          <p:nvPr/>
        </p:nvSpPr>
        <p:spPr>
          <a:xfrm>
            <a:off x="4709160" y="46542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Auto confirmation for bookings and queries</a:t>
            </a:r>
            <a:endParaRPr lang="en-US" sz="1110" dirty="0"/>
          </a:p>
        </p:txBody>
      </p:sp>
      <p:sp>
        <p:nvSpPr>
          <p:cNvPr id="30" name="Shape 27"/>
          <p:cNvSpPr/>
          <p:nvPr/>
        </p:nvSpPr>
        <p:spPr>
          <a:xfrm>
            <a:off x="8229600" y="3904488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58200" y="4160520"/>
            <a:ext cx="292608" cy="0"/>
          </a:xfrm>
          <a:prstGeom prst="line">
            <a:avLst/>
          </a:prstGeom>
          <a:noFill/>
          <a:ln w="12700">
            <a:solidFill>
              <a:srgbClr val="E114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58200" y="429768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40" b="1" dirty="0">
                <a:solidFill>
                  <a:srgbClr val="0B1D35"/>
                </a:solidFill>
              </a:rPr>
              <a:t>Mobile polish</a:t>
            </a:r>
            <a:endParaRPr lang="en-US" sz="1440" dirty="0"/>
          </a:p>
        </p:txBody>
      </p:sp>
      <p:sp>
        <p:nvSpPr>
          <p:cNvPr id="33" name="Text 30"/>
          <p:cNvSpPr/>
          <p:nvPr/>
        </p:nvSpPr>
        <p:spPr>
          <a:xfrm>
            <a:off x="8458200" y="46542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6768B"/>
                </a:solidFill>
              </a:rPr>
              <a:t>More optimized comparison on small screens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D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pic>
        <p:nvPicPr>
          <p:cNvPr id="3" name="Image 0" descr="/mnt/data/autoworld_presentation_crops2/cover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13232"/>
            <a:ext cx="5120640" cy="5074920"/>
          </a:xfrm>
          <a:prstGeom prst="rect">
            <a:avLst/>
          </a:prstGeom>
        </p:spPr>
      </p:pic>
      <p:pic>
        <p:nvPicPr>
          <p:cNvPr id="4" name="Image 1" descr="/mnt/data/autoworld_doc_assets/logo_sm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724" y="566928"/>
            <a:ext cx="530352" cy="5303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9808" y="1664208"/>
            <a:ext cx="5212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768096" y="239572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7D7EC"/>
                </a:solidFill>
              </a:rPr>
              <a:t>AutoWorld delivers a clean and practical car dealership information experience for users.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749808" y="3493008"/>
            <a:ext cx="4983480" cy="1170432"/>
          </a:xfrm>
          <a:prstGeom prst="roundRect">
            <a:avLst>
              <a:gd name="adj" fmla="val 937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14A6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87552" y="36758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C9E2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987552" y="396849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Saqib Narejo     Student1716313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Sanjana Kumari   Student1711864</a:t>
            </a:r>
            <a:endParaRPr lang="en-US" sz="1320" dirty="0"/>
          </a:p>
          <a:p>
            <a:pPr marL="0" indent="0">
              <a:buNone/>
            </a:pPr>
            <a:r>
              <a:rPr lang="en-US" sz="1320" b="1" dirty="0">
                <a:solidFill>
                  <a:srgbClr val="FFFFFF"/>
                </a:solidFill>
              </a:rPr>
              <a:t>Nasreen Siddique Student1716338</a:t>
            </a:r>
            <a:endParaRPr lang="en-US" sz="1320" dirty="0"/>
          </a:p>
        </p:txBody>
      </p:sp>
      <p:sp>
        <p:nvSpPr>
          <p:cNvPr id="10" name="Shape 6"/>
          <p:cNvSpPr/>
          <p:nvPr/>
        </p:nvSpPr>
        <p:spPr>
          <a:xfrm>
            <a:off x="768096" y="571500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E11422"/>
          </a:solidFill>
          <a:ln w="12700">
            <a:solidFill>
              <a:srgbClr val="E11422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59536" y="579729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QUESTIONS?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869</Words>
  <Application>Microsoft Office PowerPoint</Application>
  <PresentationFormat>Widescreen</PresentationFormat>
  <Paragraphs>207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AutoWorld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AutoWorld Project Presentation</dc:title>
  <dc:subject>AutoWorld Project Presentation</dc:subject>
  <dc:creator>AutoWorld Project Team</dc:creator>
  <cp:lastModifiedBy>Saqib Narejo</cp:lastModifiedBy>
  <cp:revision>1</cp:revision>
  <dcterms:created xsi:type="dcterms:W3CDTF">2026-06-30T17:25:29Z</dcterms:created>
  <dcterms:modified xsi:type="dcterms:W3CDTF">2026-06-30T17:37:01Z</dcterms:modified>
</cp:coreProperties>
</file>